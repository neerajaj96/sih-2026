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30-second review (pitch target)</c:v>
                </c:pt>
              </c:strCache>
            </c:strRef>
          </c:tx>
          <c:spPr>
            <a:solidFill>
              <a:srgbClr val="0E5C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2B2E"/>
                    </a:solidFill>
                    <a:latin typeface="Poppi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Baseline
(100k/yr, 20% referable)</c:v>
                  </c:pt>
                  <c:pt idx="1">
                    <c:v>Stress scale
(2M/yr, 50% referable)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2-minute review (conservative)</c:v>
                </c:pt>
              </c:strCache>
            </c:strRef>
          </c:tx>
          <c:spPr>
            <a:solidFill>
              <a:srgbClr val="D649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2B2E"/>
                    </a:solidFill>
                    <a:latin typeface="Poppi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Baseline
(100k/yr, 20% referable)</c:v>
                  </c:pt>
                  <c:pt idx="1">
                    <c:v>Stress scale
(2M/yr, 50% referable)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A2B2E"/>
                  </a:solidFill>
                  <a:latin typeface="Poppi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C7378"/>
                </a:solidFill>
                <a:latin typeface="Poppins Ligh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Poppins Light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Poppins Light"/>
                  </a:rPr>
                  <a:t>Ophthalmologists needed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Poppins Ligh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Poppins Light"/>
              <a:cs typeface="Poppins Ligh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1005840"/>
            <a:ext cx="4023360" cy="4023360"/>
          </a:xfrm>
          <a:prstGeom prst="ellipse">
            <a:avLst/>
          </a:prstGeom>
          <a:noFill/>
          <a:ln w="15875">
            <a:solidFill>
              <a:srgbClr val="1C6E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6760" y="1508760"/>
            <a:ext cx="3017520" cy="3017520"/>
          </a:xfrm>
          <a:prstGeom prst="ellipse">
            <a:avLst/>
          </a:prstGeom>
          <a:noFill/>
          <a:ln w="15875">
            <a:solidFill>
              <a:srgbClr val="1C6E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2011680"/>
            <a:ext cx="2011680" cy="2011680"/>
          </a:xfrm>
          <a:prstGeom prst="ellipse">
            <a:avLst/>
          </a:prstGeom>
          <a:noFill/>
          <a:ln w="15875">
            <a:solidFill>
              <a:srgbClr val="1C6E7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0920" y="2514600"/>
            <a:ext cx="1005840" cy="1005840"/>
          </a:xfrm>
          <a:prstGeom prst="ellipse">
            <a:avLst/>
          </a:prstGeom>
          <a:noFill/>
          <a:ln w="15875">
            <a:solidFill>
              <a:srgbClr val="1C6E76"/>
            </a:solidFill>
            <a:prstDash val="solid"/>
          </a:ln>
        </p:spPr>
      </p:sp>
      <p:pic>
        <p:nvPicPr>
          <p:cNvPr id="6" name="Image 0" descr="/home/claude/sih_pptx/icon_ey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788920"/>
            <a:ext cx="1234440" cy="1234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14173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649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INDIA HACKATHON 2026   ·   PROBLEM STATEMENT 26038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1874520"/>
            <a:ext cx="85039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Explainable AI for Diabetic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Retinopathy Screening in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Rural India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02920" y="43434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9D9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 clinically-validated, MATLAB-built screening pipeline for primary healthcare centres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" y="580644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FA3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NAME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60533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[Your Team Name]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108960" y="580644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FA3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THEME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108960" y="60533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MedTech / BioTech / HealthTech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715000" y="580644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FA3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ORGANIZATION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715000" y="60533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MathWorks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321040" y="580644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FA3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CATEGORY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321040" y="60533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Software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02920" y="5669280"/>
            <a:ext cx="11155680" cy="0"/>
          </a:xfrm>
          <a:prstGeom prst="line">
            <a:avLst/>
          </a:prstGeom>
          <a:noFill/>
          <a:ln w="12700">
            <a:solidFill>
              <a:srgbClr val="1C6E7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9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2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Preventable Blindness Crisis, Outrunning the Doctors Who Screen for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542032" cy="2788920"/>
          </a:xfrm>
          <a:prstGeom prst="roundRect">
            <a:avLst>
              <a:gd name="adj" fmla="val 2878"/>
            </a:avLst>
          </a:prstGeom>
          <a:solidFill>
            <a:srgbClr val="E7F1F1"/>
          </a:solidFill>
          <a:ln/>
        </p:spPr>
      </p:sp>
      <p:pic>
        <p:nvPicPr>
          <p:cNvPr id="5" name="Image 0" descr="/home/claude/sih_pptx/icon_users_0E5C6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2057400"/>
            <a:ext cx="768096" cy="7680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971800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32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101.3M+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04088" y="3611880"/>
            <a:ext cx="21396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737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Diabetic adults in India (2023 estimate)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46120" y="1783080"/>
            <a:ext cx="2542032" cy="2788920"/>
          </a:xfrm>
          <a:prstGeom prst="roundRect">
            <a:avLst>
              <a:gd name="adj" fmla="val 2878"/>
            </a:avLst>
          </a:prstGeom>
          <a:solidFill>
            <a:srgbClr val="E7F1F1"/>
          </a:solidFill>
          <a:ln/>
        </p:spPr>
      </p:sp>
      <p:pic>
        <p:nvPicPr>
          <p:cNvPr id="9" name="Image 1" descr="/home/claude/sih_pptx/icon_eye_0E5C6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088" y="2057400"/>
            <a:ext cx="768096" cy="7680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83280" y="2971800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32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~18%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3447288" y="3611880"/>
            <a:ext cx="21396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737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Go on to develop diabetic retinopathy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989320" y="1783080"/>
            <a:ext cx="2542032" cy="2788920"/>
          </a:xfrm>
          <a:prstGeom prst="roundRect">
            <a:avLst>
              <a:gd name="adj" fmla="val 2878"/>
            </a:avLst>
          </a:prstGeom>
          <a:solidFill>
            <a:srgbClr val="E7F1F1"/>
          </a:solidFill>
          <a:ln/>
        </p:spPr>
      </p:sp>
      <p:pic>
        <p:nvPicPr>
          <p:cNvPr id="13" name="Image 2" descr="/home/claude/sih_pptx/icon_checkCircle_0E5C6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2057400"/>
            <a:ext cx="768096" cy="7680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26480" y="2971800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32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90%</a:t>
            </a:r>
            <a:endParaRPr lang="en-US" sz="2600" dirty="0"/>
          </a:p>
        </p:txBody>
      </p:sp>
      <p:sp>
        <p:nvSpPr>
          <p:cNvPr id="15" name="Text 10"/>
          <p:cNvSpPr/>
          <p:nvPr/>
        </p:nvSpPr>
        <p:spPr>
          <a:xfrm>
            <a:off x="6190488" y="3611880"/>
            <a:ext cx="21396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737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Of DR-related vision loss is preventable with early screening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732520" y="1783080"/>
            <a:ext cx="2542032" cy="2788920"/>
          </a:xfrm>
          <a:prstGeom prst="roundRect">
            <a:avLst>
              <a:gd name="adj" fmla="val 2878"/>
            </a:avLst>
          </a:prstGeom>
          <a:solidFill>
            <a:srgbClr val="E7F1F1"/>
          </a:solidFill>
          <a:ln/>
        </p:spPr>
      </p:sp>
      <p:pic>
        <p:nvPicPr>
          <p:cNvPr id="17" name="Image 3" descr="/home/claude/sih_pptx/icon_userMd_0E5C6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9488" y="2057400"/>
            <a:ext cx="768096" cy="7680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869680" y="2971800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32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: 250,000</a:t>
            </a:r>
            <a:endParaRPr lang="en-US" sz="2600" dirty="0"/>
          </a:p>
        </p:txBody>
      </p:sp>
      <p:sp>
        <p:nvSpPr>
          <p:cNvPr id="19" name="Text 13"/>
          <p:cNvSpPr/>
          <p:nvPr/>
        </p:nvSpPr>
        <p:spPr>
          <a:xfrm>
            <a:off x="8933688" y="3611880"/>
            <a:ext cx="21396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737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Rural ophthalmologist-to-population ratio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02920" y="4892040"/>
            <a:ext cx="11183112" cy="1234440"/>
          </a:xfrm>
          <a:prstGeom prst="roundRect">
            <a:avLst>
              <a:gd name="adj" fmla="val 5926"/>
            </a:avLst>
          </a:prstGeom>
          <a:solidFill>
            <a:srgbClr val="0A3238"/>
          </a:solidFill>
          <a:ln/>
        </p:spPr>
      </p:sp>
      <p:pic>
        <p:nvPicPr>
          <p:cNvPr id="21" name="Image 4" descr="/home/claude/sih_pptx/icon_exclamation_D6493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5166360"/>
            <a:ext cx="658368" cy="6583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600200" y="5029200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Existing AI tools function as black boxes: no clinical validation rigor, and they fail on the variable image quality that portable, low-cost fundus cameras produce in the field.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7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SIH26038  ·  Explainable AI for Diabetic Retinopathy Screening in Rural India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9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2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Five-Module Clinical Pipeline — Not a Black Box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1965960" cy="2331720"/>
          </a:xfrm>
          <a:prstGeom prst="roundRect">
            <a:avLst>
              <a:gd name="adj" fmla="val 4186"/>
            </a:avLst>
          </a:prstGeom>
          <a:solidFill>
            <a:srgbClr val="E7F1F1"/>
          </a:solidFill>
          <a:ln w="12700">
            <a:solidFill>
              <a:srgbClr val="0E5C63"/>
            </a:solidFill>
            <a:prstDash val="solid"/>
          </a:ln>
        </p:spPr>
      </p:sp>
      <p:pic>
        <p:nvPicPr>
          <p:cNvPr id="5" name="Image 0" descr="/home/claude/sih_pptx/icon_camera_0E5C6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004" y="2167128"/>
            <a:ext cx="621792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6072" y="2880360"/>
            <a:ext cx="18196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32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Capture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32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Quality Gate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12648" y="3447288"/>
            <a:ext cx="17465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37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Reject ungradeable images with recapture feedback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468880" y="2811780"/>
            <a:ext cx="338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49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807208" y="1965960"/>
            <a:ext cx="1965960" cy="2331720"/>
          </a:xfrm>
          <a:prstGeom prst="roundRect">
            <a:avLst>
              <a:gd name="adj" fmla="val 4186"/>
            </a:avLst>
          </a:prstGeom>
          <a:solidFill>
            <a:srgbClr val="E7F1F1"/>
          </a:solidFill>
          <a:ln w="12700">
            <a:solidFill>
              <a:srgbClr val="0E5C63"/>
            </a:solidFill>
            <a:prstDash val="solid"/>
          </a:ln>
        </p:spPr>
      </p:sp>
      <p:pic>
        <p:nvPicPr>
          <p:cNvPr id="10" name="Image 1" descr="/home/claude/sih_pptx/icon_eye_0E5C6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292" y="2167128"/>
            <a:ext cx="621792" cy="6217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80360" y="2880360"/>
            <a:ext cx="18196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32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Structure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32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Segmentation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916936" y="3447288"/>
            <a:ext cx="17465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37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Vessels, lesions, optic disc &amp; fovea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773168" y="2811780"/>
            <a:ext cx="338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49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5111496" y="1965960"/>
            <a:ext cx="1965960" cy="2331720"/>
          </a:xfrm>
          <a:prstGeom prst="roundRect">
            <a:avLst>
              <a:gd name="adj" fmla="val 4186"/>
            </a:avLst>
          </a:prstGeom>
          <a:solidFill>
            <a:srgbClr val="E7F1F1"/>
          </a:solidFill>
          <a:ln w="12700">
            <a:solidFill>
              <a:srgbClr val="0E5C63"/>
            </a:solidFill>
            <a:prstDash val="solid"/>
          </a:ln>
        </p:spPr>
      </p:sp>
      <p:pic>
        <p:nvPicPr>
          <p:cNvPr id="15" name="Image 2" descr="/home/claude/sih_pptx/icon_chartLine_0E5C6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580" y="2167128"/>
            <a:ext cx="621792" cy="6217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84648" y="2880360"/>
            <a:ext cx="18196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32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Severity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32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Grading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221224" y="3447288"/>
            <a:ext cx="17465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37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Ordinal-aware, ICDR Levels 0–4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7077456" y="2811780"/>
            <a:ext cx="338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49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7415784" y="1965960"/>
            <a:ext cx="1965960" cy="2331720"/>
          </a:xfrm>
          <a:prstGeom prst="roundRect">
            <a:avLst>
              <a:gd name="adj" fmla="val 4186"/>
            </a:avLst>
          </a:prstGeom>
          <a:solidFill>
            <a:srgbClr val="E7F1F1"/>
          </a:solidFill>
          <a:ln w="12700">
            <a:solidFill>
              <a:srgbClr val="0E5C63"/>
            </a:solidFill>
            <a:prstDash val="solid"/>
          </a:ln>
        </p:spPr>
      </p:sp>
      <p:pic>
        <p:nvPicPr>
          <p:cNvPr id="20" name="Image 3" descr="/home/claude/sih_pptx/icon_balanceScale_0E5C6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7868" y="2167128"/>
            <a:ext cx="621792" cy="6217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88936" y="2880360"/>
            <a:ext cx="18196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32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32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Explainability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525512" y="3447288"/>
            <a:ext cx="17465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37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Grad-CAM + a rule-based clinical check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9381744" y="2811780"/>
            <a:ext cx="338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49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9720072" y="1965960"/>
            <a:ext cx="1965960" cy="2331720"/>
          </a:xfrm>
          <a:prstGeom prst="roundRect">
            <a:avLst>
              <a:gd name="adj" fmla="val 4186"/>
            </a:avLst>
          </a:prstGeom>
          <a:solidFill>
            <a:srgbClr val="E7F1F1"/>
          </a:solidFill>
          <a:ln w="12700">
            <a:solidFill>
              <a:srgbClr val="0E5C63"/>
            </a:solidFill>
            <a:prstDash val="solid"/>
          </a:ln>
        </p:spPr>
      </p:sp>
      <p:pic>
        <p:nvPicPr>
          <p:cNvPr id="25" name="Image 4" descr="/home/claude/sih_pptx/icon_network_0E5C6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2156" y="2167128"/>
            <a:ext cx="621792" cy="62179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793224" y="2880360"/>
            <a:ext cx="18196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32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Queue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32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Optimization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9829800" y="3447288"/>
            <a:ext cx="17465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37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Simulink model for district-scale rollout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502920" y="4709160"/>
            <a:ext cx="11183112" cy="1417320"/>
          </a:xfrm>
          <a:prstGeom prst="roundRect">
            <a:avLst>
              <a:gd name="adj" fmla="val 5161"/>
            </a:avLst>
          </a:prstGeom>
          <a:solidFill>
            <a:srgbClr val="0A3238"/>
          </a:solidFill>
          <a:ln/>
        </p:spPr>
      </p:sp>
      <p:sp>
        <p:nvSpPr>
          <p:cNvPr id="29" name="Text 22"/>
          <p:cNvSpPr/>
          <p:nvPr/>
        </p:nvSpPr>
        <p:spPr>
          <a:xfrm>
            <a:off x="822960" y="4709160"/>
            <a:ext cx="10515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Two independent opinions, every case. 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FE7E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 calibrated deep-learning grade and a rule-based ICDR clinical-criteria grade are computed separately. When they disagree, the system flags the case for human review — instead of quietly picking one.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7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SIH26038  ·  Explainable AI for Diabetic Retinopathy Screening in Rural India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9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TECHNICAL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2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Built Entirely on the MATLAB / Simulink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074920" cy="4297680"/>
          </a:xfrm>
          <a:prstGeom prst="roundRect">
            <a:avLst>
              <a:gd name="adj" fmla="val 1702"/>
            </a:avLst>
          </a:prstGeom>
          <a:solidFill>
            <a:srgbClr val="E7F1F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5C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TOOLBOXES</a:t>
            </a:r>
            <a:endParaRPr lang="en-US" sz="1200" dirty="0"/>
          </a:p>
        </p:txBody>
      </p:sp>
      <p:pic>
        <p:nvPicPr>
          <p:cNvPr id="6" name="Image 0" descr="/home/claude/sih_pptx/icon_camera_0E5C6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6888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44144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32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Image Processing Toolbox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63040" y="272491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37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Quality assessment, CLAHE, morphology</a:t>
            </a:r>
            <a:endParaRPr lang="en-US" sz="1100" dirty="0"/>
          </a:p>
        </p:txBody>
      </p:sp>
      <p:pic>
        <p:nvPicPr>
          <p:cNvPr id="9" name="Image 1" descr="/home/claude/sih_pptx/icon_eye_0E5C6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182112"/>
            <a:ext cx="47548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315468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32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Computer Vision Toolbox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463040" y="3438144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37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Landmark &amp; structure localization</a:t>
            </a:r>
            <a:endParaRPr lang="en-US" sz="1100" dirty="0"/>
          </a:p>
        </p:txBody>
      </p:sp>
      <p:pic>
        <p:nvPicPr>
          <p:cNvPr id="12" name="Image 2" descr="/home/claude/sih_pptx/icon_brain_0E5C6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95344"/>
            <a:ext cx="475488" cy="4754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86791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32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Deep Learning Toolbox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1463040" y="4151376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37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U-Net segmentation, DenseNet grading</a:t>
            </a:r>
            <a:endParaRPr lang="en-US" sz="1100" dirty="0"/>
          </a:p>
        </p:txBody>
      </p:sp>
      <p:pic>
        <p:nvPicPr>
          <p:cNvPr id="15" name="Image 3" descr="/home/claude/sih_pptx/icon_network_0E5C6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08576"/>
            <a:ext cx="475488" cy="4754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3040" y="458114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32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Simulink + SimEvents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1463040" y="4864608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37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Telemedicine queue simulation</a:t>
            </a:r>
            <a:endParaRPr lang="en-US" sz="1100" dirty="0"/>
          </a:p>
        </p:txBody>
      </p:sp>
      <p:pic>
        <p:nvPicPr>
          <p:cNvPr id="18" name="Image 4" descr="/home/claude/sih_pptx/icon_chartLine_0E5C6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321808"/>
            <a:ext cx="475488" cy="4754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63040" y="529437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32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Statistics &amp; ML Toolbox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1463040" y="557784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37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Calibration, significance testing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5943600" y="18288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49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THIS GOES BEYOND A STANDARD CLASSIFIER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5943600" y="2286000"/>
            <a:ext cx="128016" cy="128016"/>
          </a:xfrm>
          <a:prstGeom prst="roundRect">
            <a:avLst/>
          </a:prstGeom>
          <a:solidFill>
            <a:srgbClr val="D64933"/>
          </a:solidFill>
          <a:ln/>
        </p:spPr>
      </p:sp>
      <p:sp>
        <p:nvSpPr>
          <p:cNvPr id="23" name="Text 16"/>
          <p:cNvSpPr/>
          <p:nvPr/>
        </p:nvSpPr>
        <p:spPr>
          <a:xfrm>
            <a:off x="6236208" y="2167128"/>
            <a:ext cx="5440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2B2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Ordinal-aware softmax + temperature-scaled calibration — not naive 5-way classification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5943600" y="3072384"/>
            <a:ext cx="128016" cy="128016"/>
          </a:xfrm>
          <a:prstGeom prst="roundRect">
            <a:avLst/>
          </a:prstGeom>
          <a:solidFill>
            <a:srgbClr val="D64933"/>
          </a:solidFill>
          <a:ln/>
        </p:spPr>
      </p:sp>
      <p:sp>
        <p:nvSpPr>
          <p:cNvPr id="25" name="Text 18"/>
          <p:cNvSpPr/>
          <p:nvPr/>
        </p:nvSpPr>
        <p:spPr>
          <a:xfrm>
            <a:off x="6236208" y="2953512"/>
            <a:ext cx="5440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2B2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Tversky loss to handle severe class imbalance in sub-pixel lesion segmentation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5943600" y="3858768"/>
            <a:ext cx="128016" cy="128016"/>
          </a:xfrm>
          <a:prstGeom prst="roundRect">
            <a:avLst/>
          </a:prstGeom>
          <a:solidFill>
            <a:srgbClr val="D64933"/>
          </a:solidFill>
          <a:ln/>
        </p:spPr>
      </p:sp>
      <p:sp>
        <p:nvSpPr>
          <p:cNvPr id="27" name="Text 20"/>
          <p:cNvSpPr/>
          <p:nvPr/>
        </p:nvSpPr>
        <p:spPr>
          <a:xfrm>
            <a:off x="6236208" y="3739896"/>
            <a:ext cx="5440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2B2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Optic disc &amp; fovea landmark localization for clinically-correct quadrant mapping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5943600" y="4645152"/>
            <a:ext cx="128016" cy="128016"/>
          </a:xfrm>
          <a:prstGeom prst="roundRect">
            <a:avLst/>
          </a:prstGeom>
          <a:solidFill>
            <a:srgbClr val="D64933"/>
          </a:solidFill>
          <a:ln/>
        </p:spPr>
      </p:sp>
      <p:sp>
        <p:nvSpPr>
          <p:cNvPr id="29" name="Text 22"/>
          <p:cNvSpPr/>
          <p:nvPr/>
        </p:nvSpPr>
        <p:spPr>
          <a:xfrm>
            <a:off x="6236208" y="4526280"/>
            <a:ext cx="5440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2B2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Neovascularization screening via vessel density + tortuosity analysis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5943600" y="5431536"/>
            <a:ext cx="128016" cy="128016"/>
          </a:xfrm>
          <a:prstGeom prst="roundRect">
            <a:avLst/>
          </a:prstGeom>
          <a:solidFill>
            <a:srgbClr val="D64933"/>
          </a:solidFill>
          <a:ln/>
        </p:spPr>
      </p:sp>
      <p:sp>
        <p:nvSpPr>
          <p:cNvPr id="31" name="Text 24"/>
          <p:cNvSpPr/>
          <p:nvPr/>
        </p:nvSpPr>
        <p:spPr>
          <a:xfrm>
            <a:off x="6236208" y="5312664"/>
            <a:ext cx="5440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2B2E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 real ICDR “4-2-1 rule” evidence engine — lesion counts tied to the actual clinical criteria, not just a heatmap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7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SIH26038  ·  Explainable AI for Diabetic Retinopathy Screening in Rural India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9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FEASIBILITY &amp;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2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Validated Against Published Benchmarks — Not Just a Demo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5486400" cy="2331720"/>
        </p:xfrm>
        <a:graphic>
          <a:graphicData uri="http://schemas.openxmlformats.org/drawingml/2006/table">
            <a:tbl>
              <a:tblPr/>
              <a:tblGrid>
                <a:gridCol w="1554480"/>
                <a:gridCol w="393192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oppins Light" pitchFamily="34" charset="0"/>
                          <a:ea typeface="Poppins Light" pitchFamily="34" charset="-122"/>
                          <a:cs typeface="Poppins Light" pitchFamily="34" charset="-120"/>
                        </a:rPr>
                        <a:t>Dataset</a:t>
                      </a:r>
                      <a:endParaRPr lang="en-US" sz="1250" dirty="0">
                        <a:latin typeface="Poppins Light" charset="0"/>
                        <a:ea typeface="Poppins Light" charset="0"/>
                        <a:cs typeface="Poppins Light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oppins Light" pitchFamily="34" charset="0"/>
                          <a:ea typeface="Poppins Light" pitchFamily="34" charset="-122"/>
                          <a:cs typeface="Poppins Light" pitchFamily="34" charset="-120"/>
                        </a:rPr>
                        <a:t>Role in the Pipeline</a:t>
                      </a:r>
                      <a:endParaRPr lang="en-US" sz="1250" dirty="0">
                        <a:latin typeface="Poppins Light" charset="0"/>
                        <a:ea typeface="Poppins Light" charset="0"/>
                        <a:cs typeface="Poppins Light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63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Poppins Light" pitchFamily="34" charset="0"/>
                          <a:ea typeface="Poppins Light" pitchFamily="34" charset="-122"/>
                          <a:cs typeface="Poppins Light" pitchFamily="34" charset="-120"/>
                        </a:rPr>
                        <a:t>APTOS 2019</a:t>
                      </a:r>
                      <a:endParaRPr lang="en-US" sz="1250" dirty="0">
                        <a:latin typeface="Poppins Light" charset="0"/>
                        <a:ea typeface="Poppins Light" charset="0"/>
                        <a:cs typeface="Poppins Light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Poppins Light" pitchFamily="34" charset="0"/>
                          <a:ea typeface="Poppins Light" pitchFamily="34" charset="-122"/>
                          <a:cs typeface="Poppins Light" pitchFamily="34" charset="-120"/>
                        </a:rPr>
                        <a:t>Primary training &amp; validation — severity grading</a:t>
                      </a:r>
                      <a:endParaRPr lang="en-US" sz="1250" dirty="0">
                        <a:latin typeface="Poppins Light" charset="0"/>
                        <a:ea typeface="Poppins Light" charset="0"/>
                        <a:cs typeface="Poppins Light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Poppins Light" pitchFamily="34" charset="0"/>
                          <a:ea typeface="Poppins Light" pitchFamily="34" charset="-122"/>
                          <a:cs typeface="Poppins Light" pitchFamily="34" charset="-120"/>
                        </a:rPr>
                        <a:t>IDRiD</a:t>
                      </a:r>
                      <a:endParaRPr lang="en-US" sz="1250" dirty="0">
                        <a:latin typeface="Poppins Light" charset="0"/>
                        <a:ea typeface="Poppins Light" charset="0"/>
                        <a:cs typeface="Poppins Light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Poppins Light" pitchFamily="34" charset="0"/>
                          <a:ea typeface="Poppins Light" pitchFamily="34" charset="-122"/>
                          <a:cs typeface="Poppins Light" pitchFamily="34" charset="-120"/>
                        </a:rPr>
                        <a:t>Segmentation training + grading fine-tune (pixel-level lesion masks)</a:t>
                      </a:r>
                      <a:endParaRPr lang="en-US" sz="1250" dirty="0">
                        <a:latin typeface="Poppins Light" charset="0"/>
                        <a:ea typeface="Poppins Light" charset="0"/>
                        <a:cs typeface="Poppins Light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Poppins Light" pitchFamily="34" charset="0"/>
                          <a:ea typeface="Poppins Light" pitchFamily="34" charset="-122"/>
                          <a:cs typeface="Poppins Light" pitchFamily="34" charset="-120"/>
                        </a:rPr>
                        <a:t>DRIVE</a:t>
                      </a:r>
                      <a:endParaRPr lang="en-US" sz="1250" dirty="0">
                        <a:latin typeface="Poppins Light" charset="0"/>
                        <a:ea typeface="Poppins Light" charset="0"/>
                        <a:cs typeface="Poppins Light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Poppins Light" pitchFamily="34" charset="0"/>
                          <a:ea typeface="Poppins Light" pitchFamily="34" charset="-122"/>
                          <a:cs typeface="Poppins Light" pitchFamily="34" charset="-120"/>
                        </a:rPr>
                        <a:t>Vessel-segmentation pretraining prior</a:t>
                      </a:r>
                      <a:endParaRPr lang="en-US" sz="1250" dirty="0">
                        <a:latin typeface="Poppins Light" charset="0"/>
                        <a:ea typeface="Poppins Light" charset="0"/>
                        <a:cs typeface="Poppins Light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Poppins Light" pitchFamily="34" charset="0"/>
                          <a:ea typeface="Poppins Light" pitchFamily="34" charset="-122"/>
                          <a:cs typeface="Poppins Light" pitchFamily="34" charset="-120"/>
                        </a:rPr>
                        <a:t>Messidor-2</a:t>
                      </a:r>
                      <a:endParaRPr lang="en-US" sz="1250" dirty="0">
                        <a:latin typeface="Poppins Light" charset="0"/>
                        <a:ea typeface="Poppins Light" charset="0"/>
                        <a:cs typeface="Poppins Light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B2E"/>
                          </a:solidFill>
                          <a:latin typeface="Poppins Light" pitchFamily="34" charset="0"/>
                          <a:ea typeface="Poppins Light" pitchFamily="34" charset="-122"/>
                          <a:cs typeface="Poppins Light" pitchFamily="34" charset="-120"/>
                        </a:rPr>
                        <a:t>Blind hold-out test set — independent, multi-site, for honest validation</a:t>
                      </a:r>
                      <a:endParaRPr lang="en-US" sz="1250" dirty="0">
                        <a:latin typeface="Poppins Light" charset="0"/>
                        <a:ea typeface="Poppins Light" charset="0"/>
                        <a:cs typeface="Poppins Light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348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0E5C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TARGET CLINICAL METRICS  (referable DR, ICDR Level 2+)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02920" y="4754880"/>
            <a:ext cx="1737360" cy="1051560"/>
          </a:xfrm>
          <a:prstGeom prst="roundRect">
            <a:avLst>
              <a:gd name="adj" fmla="val 6087"/>
            </a:avLst>
          </a:prstGeom>
          <a:solidFill>
            <a:srgbClr val="E7F1F1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486460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32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&gt;90%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02920" y="53675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37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Sensitivity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350008" y="4754880"/>
            <a:ext cx="1737360" cy="1051560"/>
          </a:xfrm>
          <a:prstGeom prst="roundRect">
            <a:avLst>
              <a:gd name="adj" fmla="val 6087"/>
            </a:avLst>
          </a:prstGeom>
          <a:solidFill>
            <a:srgbClr val="E7F1F1"/>
          </a:solidFill>
          <a:ln/>
        </p:spPr>
      </p:sp>
      <p:sp>
        <p:nvSpPr>
          <p:cNvPr id="10" name="Text 7"/>
          <p:cNvSpPr/>
          <p:nvPr/>
        </p:nvSpPr>
        <p:spPr>
          <a:xfrm>
            <a:off x="2350008" y="486460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32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&gt;85%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2350008" y="53675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37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Specificity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97096" y="4754880"/>
            <a:ext cx="1737360" cy="1051560"/>
          </a:xfrm>
          <a:prstGeom prst="roundRect">
            <a:avLst>
              <a:gd name="adj" fmla="val 6087"/>
            </a:avLst>
          </a:prstGeom>
          <a:solidFill>
            <a:srgbClr val="E7F1F1"/>
          </a:solidFill>
          <a:ln/>
        </p:spPr>
      </p:sp>
      <p:sp>
        <p:nvSpPr>
          <p:cNvPr id="13" name="Text 10"/>
          <p:cNvSpPr/>
          <p:nvPr/>
        </p:nvSpPr>
        <p:spPr>
          <a:xfrm>
            <a:off x="4197096" y="486460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32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&gt; 0.85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197096" y="53675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37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QWK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309360" y="18745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0A3238"/>
          </a:solidFill>
          <a:ln/>
        </p:spPr>
      </p:sp>
      <p:pic>
        <p:nvPicPr>
          <p:cNvPr id="16" name="Image 0" descr="/home/claude/sih_pptx/icon_flask_0E5C6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968" y="2121408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15200" y="2194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Proving It, Not Asserting It</a:t>
            </a:r>
            <a:endParaRPr lang="en-US" sz="1600" dirty="0"/>
          </a:p>
        </p:txBody>
      </p:sp>
      <p:pic>
        <p:nvPicPr>
          <p:cNvPr id="18" name="Image 1" descr="/home/claude/sih_pptx/icon_checkCircle_1F8A7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880360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86600" y="280720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EAEA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 deliberately naive baseline (raw image + plain ResNet-50 + cross-entropy) is trained on the exact same split.</a:t>
            </a:r>
            <a:endParaRPr lang="en-US" sz="1250" dirty="0"/>
          </a:p>
        </p:txBody>
      </p:sp>
      <p:pic>
        <p:nvPicPr>
          <p:cNvPr id="20" name="Image 2" descr="/home/claude/sih_pptx/icon_checkCircle_1F8A7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381304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086600" y="3739896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EAEA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Both models are scored on the same Messidor-2 hold-out set: Quadratic Weighted Kappa, sensitivity, specificity.</a:t>
            </a:r>
            <a:endParaRPr lang="en-US" sz="1250" dirty="0"/>
          </a:p>
        </p:txBody>
      </p:sp>
      <p:pic>
        <p:nvPicPr>
          <p:cNvPr id="22" name="Image 3" descr="/home/claude/sih_pptx/icon_checkCircle_1F8A7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4745736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086600" y="4672584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EAEA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McNemar’s test checks whether the pipeline’s advantage is statistically significant, not just numerically bigger.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7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SIH26038  ·  Explainable AI for Diabetic Retinopathy Screening in Rural India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9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2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Turning Explainability Speed Into a Staffing Answer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783080"/>
          <a:ext cx="66751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783080"/>
            <a:ext cx="4114800" cy="4160520"/>
          </a:xfrm>
          <a:prstGeom prst="roundRect">
            <a:avLst>
              <a:gd name="adj" fmla="val 1778"/>
            </a:avLst>
          </a:prstGeom>
          <a:solidFill>
            <a:srgbClr val="0A3238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20116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BBBB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Computed with Erlang-C queueing theory, verified against the closed-form M/M/1 case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863840" y="26974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D6493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5 vs. 17.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That's the staffing gap between a 30-second automated report and a 2-minute one, at district scale.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863840" y="420624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9EAEA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Module 4's explainability speed target isn't cosmetic — it's a direct lever on Module 5's staffing requirement.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7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SIH26038  ·  Explainable AI for Diabetic Retinopathy Screening in Rural India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9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References &amp; Team</a:t>
            </a:r>
            <a:endParaRPr lang="en-US" sz="3000" dirty="0"/>
          </a:p>
        </p:txBody>
      </p:sp>
      <p:pic>
        <p:nvPicPr>
          <p:cNvPr id="4" name="Image 0" descr="/home/claude/sih_pptx/icon_database_0E5C6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1288" y="19019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02920" y="237744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FE7E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•  APTOS 2019 — kaggle.com/c/aptos2019-blindness-detection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FE7E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•  IDRiD — ieee-dataport.org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FE7E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•  DRIVE — drive.grand-challenge.org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FE7E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•  Messidor-2 — adcis.net/en/third-party/messidor2</a:t>
            </a:r>
            <a:endParaRPr lang="en-US" sz="1200" dirty="0"/>
          </a:p>
        </p:txBody>
      </p:sp>
      <p:pic>
        <p:nvPicPr>
          <p:cNvPr id="7" name="Image 1" descr="/home/claude/sih_pptx/icon_book_0E5C6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6052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61288" y="4233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Clinical &amp; Methodological Basis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02920" y="470916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7E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•  International Clinical Diabetic Retinopathy (ICDR) severity scale — the “4-2-1 rule” for Severe NPDR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7E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•  Grad-CAM class-activation explainability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7E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•  Temperature scaling for confidence calibration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7E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•  Tversky loss for class-imbalanced segmentation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7E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•  Erlang-C (M/M/c) queueing theory for staffing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355080" y="1828800"/>
            <a:ext cx="5303520" cy="4343400"/>
          </a:xfrm>
          <a:prstGeom prst="roundRect">
            <a:avLst>
              <a:gd name="adj" fmla="val 1684"/>
            </a:avLst>
          </a:prstGeom>
          <a:solidFill>
            <a:srgbClr val="0F454C"/>
          </a:solidFill>
          <a:ln/>
        </p:spPr>
      </p:sp>
      <p:pic>
        <p:nvPicPr>
          <p:cNvPr id="11" name="Image 2" descr="/home/claude/sih_pptx/icon_users_0E5C6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148840"/>
            <a:ext cx="731520" cy="7315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55080" y="30175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D649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812280" y="347472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[Team Leader Name]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812280" y="389534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[Member Name]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812280" y="431596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[Member Name]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812280" y="4736592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[Member Name]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812280" y="5157216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[Member Name]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812280" y="557784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[Member Name]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355080" y="6135624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7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SIH26038  ·  Explainable AI for Diabetic Retinopathy Screening in Rural India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78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2026-09-11T11:43:54Z</dcterms:created>
  <dcterms:modified xsi:type="dcterms:W3CDTF">2026-09-11T11:43:54Z</dcterms:modified>
</cp:coreProperties>
</file>